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grandir" panose="020B0604020202020204" charset="0"/>
      <p:regular r:id="rId9"/>
    </p:embeddedFont>
    <p:embeddedFont>
      <p:font typeface="Agrandir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DA930-BDAD-46E4-B3E5-F250EAEA92F7}" v="7" dt="2026-09-02T05:25:30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.Venkat Sai" userId="3e5a8677f97c38cd" providerId="LiveId" clId="{0044B968-640F-4B20-AAD5-1989ECF00542}"/>
    <pc:docChg chg="undo custSel modSld">
      <pc:chgData name="D.Venkat Sai" userId="3e5a8677f97c38cd" providerId="LiveId" clId="{0044B968-640F-4B20-AAD5-1989ECF00542}" dt="2026-09-02T05:25:30.422" v="31"/>
      <pc:docMkLst>
        <pc:docMk/>
      </pc:docMkLst>
      <pc:sldChg chg="modSp mod">
        <pc:chgData name="D.Venkat Sai" userId="3e5a8677f97c38cd" providerId="LiveId" clId="{0044B968-640F-4B20-AAD5-1989ECF00542}" dt="2026-09-02T05:25:30.422" v="31"/>
        <pc:sldMkLst>
          <pc:docMk/>
          <pc:sldMk cId="0" sldId="257"/>
        </pc:sldMkLst>
        <pc:spChg chg="mod">
          <ac:chgData name="D.Venkat Sai" userId="3e5a8677f97c38cd" providerId="LiveId" clId="{0044B968-640F-4B20-AAD5-1989ECF00542}" dt="2026-08-28T04:58:05.640" v="1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.Venkat Sai" userId="3e5a8677f97c38cd" providerId="LiveId" clId="{0044B968-640F-4B20-AAD5-1989ECF00542}" dt="2026-09-02T05:25:30.422" v="31"/>
          <ac:spMkLst>
            <pc:docMk/>
            <pc:sldMk cId="0" sldId="257"/>
            <ac:spMk id="9" creationId="{00000000-0000-0000-0000-000000000000}"/>
          </ac:spMkLst>
        </pc:spChg>
        <pc:spChg chg="mod">
          <ac:chgData name="D.Venkat Sai" userId="3e5a8677f97c38cd" providerId="LiveId" clId="{0044B968-640F-4B20-AAD5-1989ECF00542}" dt="2026-09-02T05:22:19.552" v="25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D.Venkat Sai" userId="3e5a8677f97c38cd" providerId="LiveId" clId="{0044B968-640F-4B20-AAD5-1989ECF00542}" dt="2026-08-28T05:02:39.489" v="23" actId="1076"/>
        <pc:sldMkLst>
          <pc:docMk/>
          <pc:sldMk cId="0" sldId="258"/>
        </pc:sldMkLst>
        <pc:spChg chg="mod">
          <ac:chgData name="D.Venkat Sai" userId="3e5a8677f97c38cd" providerId="LiveId" clId="{0044B968-640F-4B20-AAD5-1989ECF00542}" dt="2026-08-28T05:02:29.540" v="2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1:34.278" v="17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1:52.763" v="1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2:01.132" v="20" actId="1076"/>
          <ac:spMkLst>
            <pc:docMk/>
            <pc:sldMk cId="0" sldId="258"/>
            <ac:spMk id="16" creationId="{00000000-0000-0000-0000-000000000000}"/>
          </ac:spMkLst>
        </pc:spChg>
        <pc:grpChg chg="mod">
          <ac:chgData name="D.Venkat Sai" userId="3e5a8677f97c38cd" providerId="LiveId" clId="{0044B968-640F-4B20-AAD5-1989ECF00542}" dt="2026-08-28T05:02:39.489" v="23" actId="1076"/>
          <ac:grpSpMkLst>
            <pc:docMk/>
            <pc:sldMk cId="0" sldId="258"/>
            <ac:grpSpMk id="20" creationId="{00000000-0000-0000-0000-000000000000}"/>
          </ac:grpSpMkLst>
        </pc:grpChg>
      </pc:sldChg>
      <pc:sldChg chg="modSp mod">
        <pc:chgData name="D.Venkat Sai" userId="3e5a8677f97c38cd" providerId="LiveId" clId="{0044B968-640F-4B20-AAD5-1989ECF00542}" dt="2026-08-28T04:58:46.928" v="4" actId="1076"/>
        <pc:sldMkLst>
          <pc:docMk/>
          <pc:sldMk cId="0" sldId="259"/>
        </pc:sldMkLst>
        <pc:graphicFrameChg chg="mod">
          <ac:chgData name="D.Venkat Sai" userId="3e5a8677f97c38cd" providerId="LiveId" clId="{0044B968-640F-4B20-AAD5-1989ECF00542}" dt="2026-08-28T04:58:46.928" v="4" actId="1076"/>
          <ac:graphicFrameMkLst>
            <pc:docMk/>
            <pc:sldMk cId="0" sldId="259"/>
            <ac:graphicFrameMk id="19" creationId="{00000000-0000-0000-0000-000000000000}"/>
          </ac:graphicFrameMkLst>
        </pc:graphicFrameChg>
      </pc:sldChg>
      <pc:sldChg chg="modSp mod">
        <pc:chgData name="D.Venkat Sai" userId="3e5a8677f97c38cd" providerId="LiveId" clId="{0044B968-640F-4B20-AAD5-1989ECF00542}" dt="2026-08-28T04:59:30.246" v="6" actId="1076"/>
        <pc:sldMkLst>
          <pc:docMk/>
          <pc:sldMk cId="0" sldId="260"/>
        </pc:sldMkLst>
        <pc:spChg chg="mod">
          <ac:chgData name="D.Venkat Sai" userId="3e5a8677f97c38cd" providerId="LiveId" clId="{0044B968-640F-4B20-AAD5-1989ECF00542}" dt="2026-08-28T04:59:30.246" v="6" actId="1076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D.Venkat Sai" userId="3e5a8677f97c38cd" providerId="LiveId" clId="{0044B968-640F-4B20-AAD5-1989ECF00542}" dt="2026-08-28T05:00:31.600" v="13" actId="14100"/>
        <pc:sldMkLst>
          <pc:docMk/>
          <pc:sldMk cId="0" sldId="261"/>
        </pc:sldMkLst>
        <pc:spChg chg="mod">
          <ac:chgData name="D.Venkat Sai" userId="3e5a8677f97c38cd" providerId="LiveId" clId="{0044B968-640F-4B20-AAD5-1989ECF00542}" dt="2026-08-28T04:59:52.860" v="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D.Venkat Sai" userId="3e5a8677f97c38cd" providerId="LiveId" clId="{0044B968-640F-4B20-AAD5-1989ECF00542}" dt="2026-08-28T04:59:59.725" v="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0:17.390" v="1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0:12.413" v="1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0:06.548" v="9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0:27.343" v="12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.Venkat Sai" userId="3e5a8677f97c38cd" providerId="LiveId" clId="{0044B968-640F-4B20-AAD5-1989ECF00542}" dt="2026-08-28T05:00:31.600" v="13" actId="14100"/>
          <ac:spMkLst>
            <pc:docMk/>
            <pc:sldMk cId="0" sldId="261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26129" y="2314575"/>
            <a:ext cx="5657850" cy="56578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83979" y="2314575"/>
            <a:ext cx="5657850" cy="56578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089849" y="2726077"/>
            <a:ext cx="12108301" cy="1893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5"/>
              </a:lnSpc>
              <a:spcBef>
                <a:spcPct val="0"/>
              </a:spcBef>
            </a:pPr>
            <a:r>
              <a:rPr lang="en-US" sz="943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RECOMMENDATION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4092" y="4219042"/>
            <a:ext cx="8619774" cy="235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74"/>
              </a:lnSpc>
              <a:spcBef>
                <a:spcPct val="0"/>
              </a:spcBef>
            </a:pPr>
            <a:r>
              <a:rPr lang="en-US" sz="11838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26129" y="7662941"/>
            <a:ext cx="5224049" cy="139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Presented by:</a:t>
            </a:r>
          </a:p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Venkat-2520090034</a:t>
            </a:r>
          </a:p>
          <a:p>
            <a:pPr algn="l">
              <a:lnSpc>
                <a:spcPts val="3573"/>
              </a:lnSpc>
              <a:spcBef>
                <a:spcPct val="0"/>
              </a:spcBef>
            </a:pPr>
            <a:r>
              <a:rPr lang="en-US" sz="255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Yaswanth-2520080048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68861" y="6652009"/>
            <a:ext cx="9472059" cy="70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 b="1">
                <a:solidFill>
                  <a:srgbClr val="B0E1F5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STRUCTURES AND ALGORITHMS - 3 (25CS2103E) </a:t>
            </a:r>
          </a:p>
          <a:p>
            <a:pPr algn="l">
              <a:lnSpc>
                <a:spcPts val="2663"/>
              </a:lnSpc>
              <a:spcBef>
                <a:spcPct val="0"/>
              </a:spcBef>
            </a:pPr>
            <a:endParaRPr lang="en-US" sz="1902" b="1">
              <a:solidFill>
                <a:srgbClr val="B0E1F5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68005" y="7922282"/>
            <a:ext cx="5224049" cy="94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Guided by:</a:t>
            </a:r>
          </a:p>
          <a:p>
            <a:pPr algn="l">
              <a:lnSpc>
                <a:spcPts val="3573"/>
              </a:lnSpc>
              <a:spcBef>
                <a:spcPct val="0"/>
              </a:spcBef>
            </a:pPr>
            <a:r>
              <a:rPr lang="en-US" sz="255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Mrs. K. Chandusha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6423" y="1733550"/>
            <a:ext cx="6819900" cy="68199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54018" y="3496205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5956194"/>
            <a:ext cx="252958" cy="296572"/>
          </a:xfrm>
          <a:custGeom>
            <a:avLst/>
            <a:gdLst/>
            <a:ahLst/>
            <a:cxnLst/>
            <a:rect l="l" t="t" r="r" b="b"/>
            <a:pathLst>
              <a:path w="252958" h="296572">
                <a:moveTo>
                  <a:pt x="0" y="0"/>
                </a:moveTo>
                <a:lnTo>
                  <a:pt x="252958" y="0"/>
                </a:lnTo>
                <a:lnTo>
                  <a:pt x="252958" y="296572"/>
                </a:lnTo>
                <a:lnTo>
                  <a:pt x="0" y="296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1658" y="1239207"/>
            <a:ext cx="10202827" cy="261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sz="7500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ABSTRACT</a:t>
            </a:r>
          </a:p>
          <a:p>
            <a:pPr algn="just">
              <a:lnSpc>
                <a:spcPts val="10500"/>
              </a:lnSpc>
              <a:spcBef>
                <a:spcPct val="0"/>
              </a:spcBef>
            </a:pPr>
            <a:endParaRPr lang="en-US" sz="7500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88246" y="3240977"/>
            <a:ext cx="6975808" cy="575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3"/>
              </a:lnSpc>
            </a:pPr>
            <a:r>
              <a:rPr lang="en-US" sz="26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System Capabilities:</a:t>
            </a:r>
          </a:p>
          <a:p>
            <a:pPr algn="just">
              <a:lnSpc>
                <a:spcPts val="2383"/>
              </a:lnSpc>
            </a:pPr>
            <a:endParaRPr lang="en-US" sz="2602" b="1" dirty="0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just">
              <a:lnSpc>
                <a:spcPts val="3363"/>
              </a:lnSpc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Fast Indexing:</a:t>
            </a: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Stores user ratings and movie information using Hash Maps.</a:t>
            </a:r>
          </a:p>
          <a:p>
            <a:pPr algn="just">
              <a:lnSpc>
                <a:spcPts val="3363"/>
              </a:lnSpc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Relevance Scoring</a:t>
            </a: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Scores movies based on user ratings, genres, and popularity.</a:t>
            </a:r>
          </a:p>
          <a:p>
            <a:pPr algn="just">
              <a:lnSpc>
                <a:spcPts val="3363"/>
              </a:lnSpc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Top-N Sorting</a:t>
            </a: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 Displays Top 10 recommended movies.</a:t>
            </a:r>
          </a:p>
          <a:p>
            <a:pPr algn="just">
              <a:lnSpc>
                <a:spcPts val="3363"/>
              </a:lnSpc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Diversity Filter:</a:t>
            </a: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Prevents recommendations from only one genre.</a:t>
            </a:r>
          </a:p>
          <a:p>
            <a:pPr algn="just">
              <a:lnSpc>
                <a:spcPts val="3363"/>
              </a:lnSpc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363"/>
              </a:lnSpc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383"/>
              </a:lnSpc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383"/>
              </a:lnSpc>
              <a:spcBef>
                <a:spcPct val="0"/>
              </a:spcBef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5573" y="5769840"/>
            <a:ext cx="6975808" cy="213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Core Objective </a:t>
            </a:r>
          </a:p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Demonstrate practical applications of searching, sorting, hashing, and priority queues to overcome information overload.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5573" y="3260027"/>
            <a:ext cx="6975808" cy="25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Movie Recommendation Engine is designed to provide personalized movie suggestions by analyzing user preferences, movie genres, ratings, and viewing history using efficient data structures and algorithms.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397315" y="1575773"/>
            <a:ext cx="6819900" cy="68199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71992" y="1820216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98117" y="4387971"/>
            <a:ext cx="467234" cy="377382"/>
          </a:xfrm>
          <a:custGeom>
            <a:avLst/>
            <a:gdLst/>
            <a:ahLst/>
            <a:cxnLst/>
            <a:rect l="l" t="t" r="r" b="b"/>
            <a:pathLst>
              <a:path w="467234" h="377382">
                <a:moveTo>
                  <a:pt x="0" y="0"/>
                </a:moveTo>
                <a:lnTo>
                  <a:pt x="467235" y="0"/>
                </a:lnTo>
                <a:lnTo>
                  <a:pt x="467235" y="377381"/>
                </a:lnTo>
                <a:lnTo>
                  <a:pt x="0" y="377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01507" y="4350831"/>
            <a:ext cx="413834" cy="420508"/>
          </a:xfrm>
          <a:custGeom>
            <a:avLst/>
            <a:gdLst/>
            <a:ahLst/>
            <a:cxnLst/>
            <a:rect l="l" t="t" r="r" b="b"/>
            <a:pathLst>
              <a:path w="413834" h="420508">
                <a:moveTo>
                  <a:pt x="0" y="0"/>
                </a:moveTo>
                <a:lnTo>
                  <a:pt x="413834" y="0"/>
                </a:lnTo>
                <a:lnTo>
                  <a:pt x="413834" y="420509"/>
                </a:lnTo>
                <a:lnTo>
                  <a:pt x="0" y="420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8697" y="4360012"/>
            <a:ext cx="543345" cy="433301"/>
          </a:xfrm>
          <a:custGeom>
            <a:avLst/>
            <a:gdLst/>
            <a:ahLst/>
            <a:cxnLst/>
            <a:rect l="l" t="t" r="r" b="b"/>
            <a:pathLst>
              <a:path w="543345" h="433301">
                <a:moveTo>
                  <a:pt x="0" y="0"/>
                </a:moveTo>
                <a:lnTo>
                  <a:pt x="543345" y="0"/>
                </a:lnTo>
                <a:lnTo>
                  <a:pt x="543345" y="433300"/>
                </a:lnTo>
                <a:lnTo>
                  <a:pt x="0" y="433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60678" y="1213823"/>
            <a:ext cx="10966644" cy="283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LITERATURE SURVEY</a:t>
            </a:r>
          </a:p>
          <a:p>
            <a:pPr algn="just">
              <a:lnSpc>
                <a:spcPts val="10500"/>
              </a:lnSpc>
              <a:spcBef>
                <a:spcPct val="0"/>
              </a:spcBef>
            </a:pPr>
            <a:endParaRPr lang="en-US" sz="750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8697" y="5548411"/>
            <a:ext cx="4466247" cy="255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Analyzes interaction patterns across similar user profiles to predict rating scores and interests without needing explicit item meta-data.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71879" y="5548411"/>
            <a:ext cx="5144243" cy="255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Matches item attributes (genres, tags, keywords) against user historical preferences to recommend items with similar characteristics.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59018" y="5548411"/>
            <a:ext cx="4697590" cy="255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Leverages fast lookup Hash Maps and Min-Heaps to eliminate high computational overhead and solve Cold-Start latency in real time.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28005" y="4302689"/>
            <a:ext cx="3915132" cy="971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sz="28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Collaborative Filtering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8012" y="4240613"/>
            <a:ext cx="4235410" cy="5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sz="28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Content-Based Filtering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89650" y="4308187"/>
            <a:ext cx="4452938" cy="56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DSA Optimized Approach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31211" y="4052273"/>
            <a:ext cx="4497756" cy="4054493"/>
            <a:chOff x="0" y="0"/>
            <a:chExt cx="1184594" cy="10678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84594" cy="1067850"/>
            </a:xfrm>
            <a:custGeom>
              <a:avLst/>
              <a:gdLst/>
              <a:ahLst/>
              <a:cxnLst/>
              <a:rect l="l" t="t" r="r" b="b"/>
              <a:pathLst>
                <a:path w="1184594" h="1067850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985228"/>
                  </a:lnTo>
                  <a:cubicBezTo>
                    <a:pt x="1184594" y="1007141"/>
                    <a:pt x="1175889" y="1028156"/>
                    <a:pt x="1160395" y="1043651"/>
                  </a:cubicBezTo>
                  <a:cubicBezTo>
                    <a:pt x="1144900" y="1059145"/>
                    <a:pt x="1123885" y="1067850"/>
                    <a:pt x="1101972" y="1067850"/>
                  </a:cubicBezTo>
                  <a:lnTo>
                    <a:pt x="82622" y="1067850"/>
                  </a:lnTo>
                  <a:cubicBezTo>
                    <a:pt x="36991" y="1067850"/>
                    <a:pt x="0" y="1030859"/>
                    <a:pt x="0" y="985228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184594" cy="115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54937" y="4052273"/>
            <a:ext cx="4497756" cy="4054493"/>
            <a:chOff x="0" y="0"/>
            <a:chExt cx="1184594" cy="1067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4594" cy="1067850"/>
            </a:xfrm>
            <a:custGeom>
              <a:avLst/>
              <a:gdLst/>
              <a:ahLst/>
              <a:cxnLst/>
              <a:rect l="l" t="t" r="r" b="b"/>
              <a:pathLst>
                <a:path w="1184594" h="1067850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985228"/>
                  </a:lnTo>
                  <a:cubicBezTo>
                    <a:pt x="1184594" y="1007141"/>
                    <a:pt x="1175889" y="1028156"/>
                    <a:pt x="1160395" y="1043651"/>
                  </a:cubicBezTo>
                  <a:cubicBezTo>
                    <a:pt x="1144900" y="1059145"/>
                    <a:pt x="1123885" y="1067850"/>
                    <a:pt x="1101972" y="1067850"/>
                  </a:cubicBezTo>
                  <a:lnTo>
                    <a:pt x="82622" y="1067850"/>
                  </a:lnTo>
                  <a:cubicBezTo>
                    <a:pt x="36991" y="1067850"/>
                    <a:pt x="0" y="1030859"/>
                    <a:pt x="0" y="985228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184594" cy="115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604443" y="4052273"/>
            <a:ext cx="4497756" cy="4054493"/>
            <a:chOff x="0" y="0"/>
            <a:chExt cx="1184594" cy="1067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4594" cy="1067850"/>
            </a:xfrm>
            <a:custGeom>
              <a:avLst/>
              <a:gdLst/>
              <a:ahLst/>
              <a:cxnLst/>
              <a:rect l="l" t="t" r="r" b="b"/>
              <a:pathLst>
                <a:path w="1184594" h="1067850">
                  <a:moveTo>
                    <a:pt x="82622" y="0"/>
                  </a:moveTo>
                  <a:lnTo>
                    <a:pt x="1101972" y="0"/>
                  </a:lnTo>
                  <a:cubicBezTo>
                    <a:pt x="1123885" y="0"/>
                    <a:pt x="1144900" y="8705"/>
                    <a:pt x="1160395" y="24199"/>
                  </a:cubicBezTo>
                  <a:cubicBezTo>
                    <a:pt x="1175889" y="39694"/>
                    <a:pt x="1184594" y="60709"/>
                    <a:pt x="1184594" y="82622"/>
                  </a:cubicBezTo>
                  <a:lnTo>
                    <a:pt x="1184594" y="985228"/>
                  </a:lnTo>
                  <a:cubicBezTo>
                    <a:pt x="1184594" y="1007141"/>
                    <a:pt x="1175889" y="1028156"/>
                    <a:pt x="1160395" y="1043651"/>
                  </a:cubicBezTo>
                  <a:cubicBezTo>
                    <a:pt x="1144900" y="1059145"/>
                    <a:pt x="1123885" y="1067850"/>
                    <a:pt x="1101972" y="1067850"/>
                  </a:cubicBezTo>
                  <a:lnTo>
                    <a:pt x="82622" y="1067850"/>
                  </a:lnTo>
                  <a:cubicBezTo>
                    <a:pt x="36991" y="1067850"/>
                    <a:pt x="0" y="1030859"/>
                    <a:pt x="0" y="985228"/>
                  </a:cubicBezTo>
                  <a:lnTo>
                    <a:pt x="0" y="82622"/>
                  </a:lnTo>
                  <a:cubicBezTo>
                    <a:pt x="0" y="60709"/>
                    <a:pt x="8705" y="39694"/>
                    <a:pt x="24199" y="24199"/>
                  </a:cubicBezTo>
                  <a:cubicBezTo>
                    <a:pt x="39694" y="8705"/>
                    <a:pt x="60709" y="0"/>
                    <a:pt x="82622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184594" cy="115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51521" y="2105719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1"/>
                </a:lnTo>
                <a:lnTo>
                  <a:pt x="0" y="715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51521" y="5788200"/>
            <a:ext cx="731589" cy="73158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51521" y="6884689"/>
            <a:ext cx="731589" cy="73158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38398" y="5865514"/>
            <a:ext cx="731589" cy="7315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38398" y="6962002"/>
            <a:ext cx="731589" cy="7315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2733" y="1205547"/>
            <a:ext cx="2515986" cy="251598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57225" cap="sq">
              <a:gradFill>
                <a:gsLst>
                  <a:gs pos="0">
                    <a:srgbClr val="B4EAFF">
                      <a:alpha val="63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9" name="Object 19"/>
          <p:cNvGraphicFramePr/>
          <p:nvPr>
            <p:extLst>
              <p:ext uri="{D42A27DB-BD31-4B8C-83A1-F6EECF244321}">
                <p14:modId xmlns:p14="http://schemas.microsoft.com/office/powerpoint/2010/main" val="3979826136"/>
              </p:ext>
            </p:extLst>
          </p:nvPr>
        </p:nvGraphicFramePr>
        <p:xfrm>
          <a:off x="-304800" y="3485659"/>
          <a:ext cx="16230600" cy="5315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6286500" progId="Excel.Sheet.12">
                  <p:embed/>
                </p:oleObj>
              </mc:Choice>
              <mc:Fallback>
                <p:oleObj name="Worksheet" r:id="rId4" imgW="19469100" imgH="6286500" progId="Excel.Sheet.12">
                  <p:embed/>
                  <p:pic>
                    <p:nvPicPr>
                      <p:cNvPr id="19" name="Objec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04800" y="3485659"/>
                        <a:ext cx="16230600" cy="5315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1028700" y="1616250"/>
            <a:ext cx="12214861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sz="7500" b="1" dirty="0">
                <a:solidFill>
                  <a:srgbClr val="E9E9E9"/>
                </a:solidFill>
                <a:latin typeface="Agrandir Bold"/>
                <a:ea typeface="Agrandir Bold"/>
                <a:cs typeface="Agrandir Bold"/>
                <a:sym typeface="Agrandir Bold"/>
              </a:rPr>
              <a:t>SOFTWARE SPECIFICATIONS</a:t>
            </a:r>
          </a:p>
          <a:p>
            <a:pPr algn="just">
              <a:lnSpc>
                <a:spcPts val="10500"/>
              </a:lnSpc>
              <a:spcBef>
                <a:spcPct val="0"/>
              </a:spcBef>
            </a:pPr>
            <a:endParaRPr lang="en-US" sz="7500" b="1" dirty="0">
              <a:solidFill>
                <a:srgbClr val="E9E9E9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5003" y="5140851"/>
            <a:ext cx="387702" cy="401548"/>
          </a:xfrm>
          <a:custGeom>
            <a:avLst/>
            <a:gdLst/>
            <a:ahLst/>
            <a:cxnLst/>
            <a:rect l="l" t="t" r="r" b="b"/>
            <a:pathLst>
              <a:path w="387702" h="401548">
                <a:moveTo>
                  <a:pt x="0" y="0"/>
                </a:moveTo>
                <a:lnTo>
                  <a:pt x="387702" y="0"/>
                </a:lnTo>
                <a:lnTo>
                  <a:pt x="387702" y="401549"/>
                </a:lnTo>
                <a:lnTo>
                  <a:pt x="0" y="401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05003" y="5930990"/>
            <a:ext cx="387702" cy="375195"/>
          </a:xfrm>
          <a:custGeom>
            <a:avLst/>
            <a:gdLst/>
            <a:ahLst/>
            <a:cxnLst/>
            <a:rect l="l" t="t" r="r" b="b"/>
            <a:pathLst>
              <a:path w="387702" h="375195">
                <a:moveTo>
                  <a:pt x="0" y="0"/>
                </a:moveTo>
                <a:lnTo>
                  <a:pt x="387702" y="0"/>
                </a:lnTo>
                <a:lnTo>
                  <a:pt x="387702" y="375195"/>
                </a:lnTo>
                <a:lnTo>
                  <a:pt x="0" y="37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5003" y="6893657"/>
            <a:ext cx="333432" cy="357248"/>
          </a:xfrm>
          <a:custGeom>
            <a:avLst/>
            <a:gdLst/>
            <a:ahLst/>
            <a:cxnLst/>
            <a:rect l="l" t="t" r="r" b="b"/>
            <a:pathLst>
              <a:path w="333432" h="357248">
                <a:moveTo>
                  <a:pt x="0" y="0"/>
                </a:moveTo>
                <a:lnTo>
                  <a:pt x="333432" y="0"/>
                </a:lnTo>
                <a:lnTo>
                  <a:pt x="333432" y="357248"/>
                </a:lnTo>
                <a:lnTo>
                  <a:pt x="0" y="35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09884" y="7730744"/>
            <a:ext cx="382821" cy="346931"/>
          </a:xfrm>
          <a:custGeom>
            <a:avLst/>
            <a:gdLst/>
            <a:ahLst/>
            <a:cxnLst/>
            <a:rect l="l" t="t" r="r" b="b"/>
            <a:pathLst>
              <a:path w="382821" h="346931">
                <a:moveTo>
                  <a:pt x="0" y="0"/>
                </a:moveTo>
                <a:lnTo>
                  <a:pt x="382821" y="0"/>
                </a:lnTo>
                <a:lnTo>
                  <a:pt x="382821" y="346931"/>
                </a:lnTo>
                <a:lnTo>
                  <a:pt x="0" y="34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5003" y="1959786"/>
            <a:ext cx="11614387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HARDWARE SPECS</a:t>
            </a:r>
          </a:p>
          <a:p>
            <a:pPr algn="just">
              <a:lnSpc>
                <a:spcPts val="10500"/>
              </a:lnSpc>
            </a:pPr>
            <a:endParaRPr lang="en-US" sz="750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just">
              <a:lnSpc>
                <a:spcPts val="10500"/>
              </a:lnSpc>
              <a:spcBef>
                <a:spcPct val="0"/>
              </a:spcBef>
            </a:pPr>
            <a:endParaRPr lang="en-US" sz="750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50634" y="5049034"/>
            <a:ext cx="6575220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CPU: Intel Core i5 / AMD Ryzen 5 or higher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50634" y="5904129"/>
            <a:ext cx="6645522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RAM: 8 GB DDR4 (In-memory index storage)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50634" y="7639525"/>
            <a:ext cx="6469322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Display: 1080p Standard Full HD Monitor</a:t>
            </a:r>
          </a:p>
          <a:p>
            <a:pPr algn="just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50634" y="6738460"/>
            <a:ext cx="7853797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Storage: 256 GB NVMe SSD for fast I/O throughput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3524301"/>
            <a:ext cx="5986316" cy="532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  <a:spcBef>
                <a:spcPct val="0"/>
              </a:spcBef>
            </a:pPr>
            <a:r>
              <a:rPr lang="en-US" sz="317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Infrastructure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6423" y="1733550"/>
            <a:ext cx="6819900" cy="68199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47675" cap="sq">
              <a:gradFill>
                <a:gsLst>
                  <a:gs pos="0">
                    <a:srgbClr val="036E99">
                      <a:alpha val="63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54018" y="3496205"/>
            <a:ext cx="915354" cy="715640"/>
          </a:xfrm>
          <a:custGeom>
            <a:avLst/>
            <a:gdLst/>
            <a:ahLst/>
            <a:cxnLst/>
            <a:rect l="l" t="t" r="r" b="b"/>
            <a:pathLst>
              <a:path w="915354" h="715640">
                <a:moveTo>
                  <a:pt x="0" y="0"/>
                </a:moveTo>
                <a:lnTo>
                  <a:pt x="915354" y="0"/>
                </a:lnTo>
                <a:lnTo>
                  <a:pt x="915354" y="715640"/>
                </a:lnTo>
                <a:lnTo>
                  <a:pt x="0" y="71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6064" y="873228"/>
            <a:ext cx="10404207" cy="415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sz="75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METHODOLOGY &amp; EXECUTION PIPELINE</a:t>
            </a:r>
          </a:p>
          <a:p>
            <a:pPr algn="just">
              <a:lnSpc>
                <a:spcPts val="10360"/>
              </a:lnSpc>
              <a:spcBef>
                <a:spcPct val="0"/>
              </a:spcBef>
            </a:pPr>
            <a:endParaRPr lang="en-US" sz="750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81658" y="6916216"/>
            <a:ext cx="6975808" cy="130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This allows dynamic weighting based on individual user preferences.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1658" y="5347081"/>
            <a:ext cx="6975808" cy="172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User interactions are indexed using Hash Maps for O(1) time complexity. Relevance score is computed as:</a:t>
            </a:r>
          </a:p>
          <a:p>
            <a:pPr algn="just">
              <a:lnSpc>
                <a:spcPts val="3363"/>
              </a:lnSpc>
              <a:spcBef>
                <a:spcPct val="0"/>
              </a:spcBef>
            </a:pPr>
            <a:endParaRPr lang="en-US" sz="2402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85807" y="5347081"/>
            <a:ext cx="8902193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This allows dynamic weighting based on individual user preferences.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5807" y="6348525"/>
            <a:ext cx="8205671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Diversity Filter: Re-ranks top results to ensure redundant items from identical categories are suppressed.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5807" y="7566743"/>
            <a:ext cx="8442175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sz="240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Domain Versatility: Applicable to movies, e-commerce, books, and online courses.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5806" y="4297842"/>
            <a:ext cx="4558793" cy="409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2. Top-N Ranking &amp; Diversity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1658" y="4320581"/>
            <a:ext cx="3366542" cy="409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1. Indexing &amp;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8267" y="3362325"/>
            <a:ext cx="5657850" cy="56578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63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583110" y="3068708"/>
            <a:ext cx="751113" cy="587234"/>
          </a:xfrm>
          <a:custGeom>
            <a:avLst/>
            <a:gdLst/>
            <a:ahLst/>
            <a:cxnLst/>
            <a:rect l="l" t="t" r="r" b="b"/>
            <a:pathLst>
              <a:path w="751113" h="587234">
                <a:moveTo>
                  <a:pt x="0" y="0"/>
                </a:moveTo>
                <a:lnTo>
                  <a:pt x="751113" y="0"/>
                </a:lnTo>
                <a:lnTo>
                  <a:pt x="751113" y="587234"/>
                </a:lnTo>
                <a:lnTo>
                  <a:pt x="0" y="587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83110" y="3530459"/>
            <a:ext cx="6426867" cy="235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74"/>
              </a:lnSpc>
              <a:spcBef>
                <a:spcPct val="0"/>
              </a:spcBef>
            </a:pPr>
            <a:r>
              <a:rPr lang="en-US" sz="1183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54101" y="3530459"/>
            <a:ext cx="3516883" cy="235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74"/>
              </a:lnSpc>
              <a:spcBef>
                <a:spcPct val="0"/>
              </a:spcBef>
            </a:pPr>
            <a:r>
              <a:rPr lang="en-US" sz="11838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333</Words>
  <Application>Microsoft Office PowerPoint</Application>
  <PresentationFormat>Custom</PresentationFormat>
  <Paragraphs>44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Agrandir Bold</vt:lpstr>
      <vt:lpstr>Calibri</vt:lpstr>
      <vt:lpstr>Agrandir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Brand Marketing Presentation</dc:title>
  <cp:lastModifiedBy>D.Venkat Sai</cp:lastModifiedBy>
  <cp:revision>1</cp:revision>
  <dcterms:created xsi:type="dcterms:W3CDTF">2006-08-16T00:00:00Z</dcterms:created>
  <dcterms:modified xsi:type="dcterms:W3CDTF">2026-09-02T05:25:36Z</dcterms:modified>
  <dc:identifier>DAHTTpe9wAM</dc:identifier>
</cp:coreProperties>
</file>