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first: too many choices, slow and repetitive suggestions.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objective: show practical use of searching, sorting, hashing and priority queues.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classic approaches and the DSA-optimised approach we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 from raw data to the final diverse Top-10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tunable per user, which gives the dynamic weighting mentioned in the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Complexities are average-case.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4"/>
                </a:solidFill>
              </a:rPr>
              <a:t>Recommendation Engine  |  DSA-3 (25CS2103E)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8FA8C4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motif"/>
          <p:cNvSpPr/>
          <p:nvPr/>
        </p:nvSpPr>
        <p:spPr>
          <a:xfrm>
            <a:off x="182880" y="457200"/>
            <a:ext cx="4206240" cy="4206240"/>
          </a:xfrm>
          <a:prstGeom prst="ellipse">
            <a:avLst/>
          </a:prstGeom>
          <a:ln w="177800">
            <a:solidFill>
              <a:srgbClr val="12A8C9">
                <a:alpha val="60000"/>
              </a:srgbClr>
            </a:solidFill>
            <a:prstDash val="solid"/>
          </a:ln>
        </p:spPr>
      </p:sp>
      <p:sp>
        <p:nvSpPr>
          <p:cNvPr id="3" name="Ring motif"/>
          <p:cNvSpPr/>
          <p:nvPr/>
        </p:nvSpPr>
        <p:spPr>
          <a:xfrm>
            <a:off x="6217920" y="2560320"/>
            <a:ext cx="4023360" cy="4023360"/>
          </a:xfrm>
          <a:prstGeom prst="ellipse">
            <a:avLst/>
          </a:prstGeom>
          <a:ln w="228600">
            <a:solidFill>
              <a:srgbClr val="1D5FA8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CE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8C9DC"/>
                </a:solidFill>
              </a:rPr>
              <a:t>DATA STRUCTURES AND ALGORITHMS - 3 (25CS2103E)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383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E1E6"/>
                </a:solidFill>
              </a:rPr>
              <a:t>Presented by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Venkat Sai  -  2520090034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Yaswanth Reddy  -  2520080048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383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E1E6"/>
                </a:solidFill>
              </a:rPr>
              <a:t>Guided by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Mrs. K. Chandusha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Assistant Professor, CS&amp;IT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4"/>
                </a:solidFill>
              </a:rPr>
              <a:t>KLH University  |  Section 10  |  A.Y. 2026-2027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Ring motif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ln w="127000">
            <a:solidFill>
              <a:srgbClr val="12A8C9">
                <a:alpha val="30000"/>
              </a:srgbClr>
            </a:solidFill>
            <a:prstDash val="solid"/>
          </a:ln>
        </p:spPr>
      </p:sp>
      <p:sp>
        <p:nvSpPr>
          <p:cNvPr id="5" name="Problem statement card"/>
          <p:cNvSpPr/>
          <p:nvPr/>
        </p:nvSpPr>
        <p:spPr>
          <a:xfrm>
            <a:off x="548640" y="1280160"/>
            <a:ext cx="8046720" cy="1234440"/>
          </a:xfrm>
          <a:prstGeom prst="roundRect">
            <a:avLst>
              <a:gd name="adj" fmla="val 8889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Design and implement a Movie Recommendation Engine </a:t>
            </a:r>
            <a:pPr indent="0" marL="0">
              <a:buNone/>
            </a:pPr>
            <a:r>
              <a:rPr lang="en-US" sz="1700" b="1" dirty="0">
                <a:solidFill>
                  <a:srgbClr val="5CE1E6"/>
                </a:solidFill>
              </a:rPr>
              <a:t>that delivers personalised Top-10 suggestions in real time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, using efficient data structures and algorithms (hashing, sorting, priority queues) while keeping the results diverse across genres.</a:t>
            </a:r>
            <a:endParaRPr lang="en-US" sz="1700" dirty="0"/>
          </a:p>
        </p:txBody>
      </p:sp>
      <p:sp>
        <p:nvSpPr>
          <p:cNvPr id="7" name="Problem card 1"/>
          <p:cNvSpPr/>
          <p:nvPr/>
        </p:nvSpPr>
        <p:spPr>
          <a:xfrm>
            <a:off x="548640" y="278892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Icon circle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9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305683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Information overload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2219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9DC"/>
                </a:solidFill>
              </a:rPr>
              <a:t>Users face thousands of titles and cannot find relevant ones quickly.</a:t>
            </a:r>
            <a:endParaRPr lang="en-US" sz="1100" dirty="0"/>
          </a:p>
        </p:txBody>
      </p:sp>
      <p:sp>
        <p:nvSpPr>
          <p:cNvPr id="12" name="Problem card 2"/>
          <p:cNvSpPr/>
          <p:nvPr/>
        </p:nvSpPr>
        <p:spPr>
          <a:xfrm>
            <a:off x="2606040" y="278892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2743200" y="2926080"/>
            <a:ext cx="502920" cy="50292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4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59" y="305683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432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Slow lookups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743200" y="382219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9DC"/>
                </a:solidFill>
              </a:rPr>
              <a:t>Scanning all users and items linearly is too slow at scale.</a:t>
            </a:r>
            <a:endParaRPr lang="en-US" sz="1100" dirty="0"/>
          </a:p>
        </p:txBody>
      </p:sp>
      <p:sp>
        <p:nvSpPr>
          <p:cNvPr id="17" name="Problem card 3"/>
          <p:cNvSpPr/>
          <p:nvPr/>
        </p:nvSpPr>
        <p:spPr>
          <a:xfrm>
            <a:off x="4663440" y="278892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4800600" y="2926080"/>
            <a:ext cx="502920" cy="50292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9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359" y="305683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006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Repetitive results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4800600" y="382219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9DC"/>
                </a:solidFill>
              </a:rPr>
              <a:t>Top picks often come from a single genre and lack variety.</a:t>
            </a:r>
            <a:endParaRPr lang="en-US" sz="1100" dirty="0"/>
          </a:p>
        </p:txBody>
      </p:sp>
      <p:sp>
        <p:nvSpPr>
          <p:cNvPr id="22" name="Problem card 4"/>
          <p:cNvSpPr/>
          <p:nvPr/>
        </p:nvSpPr>
        <p:spPr>
          <a:xfrm>
            <a:off x="6720840" y="278892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Icon circle"/>
          <p:cNvSpPr/>
          <p:nvPr/>
        </p:nvSpPr>
        <p:spPr>
          <a:xfrm>
            <a:off x="6858000" y="2926080"/>
            <a:ext cx="502920" cy="50292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24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759" y="3056839"/>
            <a:ext cx="241402" cy="2414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580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Cold-start latency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0" y="382219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9DC"/>
                </a:solidFill>
              </a:rPr>
              <a:t>New users and items have little history to rank against.</a:t>
            </a:r>
            <a:endParaRPr lang="en-US" sz="1100" dirty="0"/>
          </a:p>
        </p:txBody>
      </p:sp>
      <p:sp>
        <p:nvSpPr>
          <p:cNvPr id="27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Ring motif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ln w="127000">
            <a:solidFill>
              <a:srgbClr val="12A8C9">
                <a:alpha val="30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344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9DC"/>
                </a:solidFill>
              </a:rPr>
              <a:t>The engine gives personalised suggestions by analysing user preferences, genres, ratings and viewing history, using HashMaps and Array Lists for fast retrieval and a scoring mechanism to rank relevance.</a:t>
            </a:r>
            <a:endParaRPr lang="en-US" sz="1400" dirty="0"/>
          </a:p>
        </p:txBody>
      </p:sp>
      <p:sp>
        <p:nvSpPr>
          <p:cNvPr id="6" name="Objective card"/>
          <p:cNvSpPr/>
          <p:nvPr/>
        </p:nvSpPr>
        <p:spPr>
          <a:xfrm>
            <a:off x="548640" y="31089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32004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E1E6"/>
                </a:solidFill>
              </a:rPr>
              <a:t>Core objective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Demonstrate searching, sorting, hashing and priority queues to overcome information overload.</a:t>
            </a:r>
            <a:endParaRPr lang="en-US" sz="1200" dirty="0"/>
          </a:p>
        </p:txBody>
      </p:sp>
      <p:sp>
        <p:nvSpPr>
          <p:cNvPr id="8" name="Capability card 1"/>
          <p:cNvSpPr/>
          <p:nvPr/>
        </p:nvSpPr>
        <p:spPr>
          <a:xfrm>
            <a:off x="4846320" y="1234440"/>
            <a:ext cx="3749040" cy="713232"/>
          </a:xfrm>
          <a:prstGeom prst="roundRect">
            <a:avLst>
              <a:gd name="adj" fmla="val 15385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4956048" y="1335024"/>
            <a:ext cx="512064" cy="512064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0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9185" y="1468161"/>
            <a:ext cx="245791" cy="2457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23444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 Indexing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9DC"/>
                </a:solidFill>
              </a:rPr>
              <a:t>Ratings and movie data stored in Hash Maps</a:t>
            </a:r>
            <a:endParaRPr lang="en-US" sz="1400" dirty="0"/>
          </a:p>
        </p:txBody>
      </p:sp>
      <p:sp>
        <p:nvSpPr>
          <p:cNvPr id="12" name="Capability card 2"/>
          <p:cNvSpPr/>
          <p:nvPr/>
        </p:nvSpPr>
        <p:spPr>
          <a:xfrm>
            <a:off x="4846320" y="2057400"/>
            <a:ext cx="3749040" cy="713232"/>
          </a:xfrm>
          <a:prstGeom prst="roundRect">
            <a:avLst>
              <a:gd name="adj" fmla="val 15385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4956048" y="2157984"/>
            <a:ext cx="512064" cy="512064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4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185" y="2291121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20574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Relevance Scoring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9DC"/>
                </a:solidFill>
              </a:rPr>
              <a:t>Based on ratings, genres and popularity</a:t>
            </a:r>
            <a:endParaRPr lang="en-US" sz="1400" dirty="0"/>
          </a:p>
        </p:txBody>
      </p:sp>
      <p:sp>
        <p:nvSpPr>
          <p:cNvPr id="16" name="Capability card 3"/>
          <p:cNvSpPr/>
          <p:nvPr/>
        </p:nvSpPr>
        <p:spPr>
          <a:xfrm>
            <a:off x="4846320" y="2880360"/>
            <a:ext cx="3749040" cy="713232"/>
          </a:xfrm>
          <a:prstGeom prst="roundRect">
            <a:avLst>
              <a:gd name="adj" fmla="val 15385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4956048" y="2980944"/>
            <a:ext cx="512064" cy="512064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8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185" y="3114081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77840" y="28803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Top-N Sorting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9DC"/>
                </a:solidFill>
              </a:rPr>
              <a:t>Displays the Top 10 recommended movies</a:t>
            </a:r>
            <a:endParaRPr lang="en-US" sz="1400" dirty="0"/>
          </a:p>
        </p:txBody>
      </p:sp>
      <p:sp>
        <p:nvSpPr>
          <p:cNvPr id="20" name="Capability card 4"/>
          <p:cNvSpPr/>
          <p:nvPr/>
        </p:nvSpPr>
        <p:spPr>
          <a:xfrm>
            <a:off x="4846320" y="3703320"/>
            <a:ext cx="3749040" cy="713232"/>
          </a:xfrm>
          <a:prstGeom prst="roundRect">
            <a:avLst>
              <a:gd name="adj" fmla="val 15385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4956048" y="3803904"/>
            <a:ext cx="512064" cy="512064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22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185" y="3937041"/>
            <a:ext cx="245791" cy="24579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77840" y="37033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Diversity Filter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9DC"/>
                </a:solidFill>
              </a:rPr>
              <a:t>Stops results from being one genre only</a:t>
            </a:r>
            <a:endParaRPr lang="en-US" sz="1400" dirty="0"/>
          </a:p>
        </p:txBody>
      </p:sp>
      <p:sp>
        <p:nvSpPr>
          <p:cNvPr id="24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3" name="Ring motif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ln w="127000">
            <a:solidFill>
              <a:srgbClr val="12A8C9">
                <a:alpha val="30000"/>
              </a:srgbClr>
            </a:solidFill>
            <a:prstDash val="solid"/>
          </a:ln>
        </p:spPr>
      </p:sp>
      <p:sp>
        <p:nvSpPr>
          <p:cNvPr id="5" name="Literature card 1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7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666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Content-Based Filtering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0632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Matches item attributes (genres, tags, keywords) against a user's historical preferences to recommend similar items.</a:t>
            </a:r>
            <a:endParaRPr lang="en-US" sz="1200" dirty="0"/>
          </a:p>
        </p:txBody>
      </p:sp>
      <p:sp>
        <p:nvSpPr>
          <p:cNvPr id="10" name="Literature card 2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76662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2044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Collaborative Filtering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520440" y="30632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Analyses interaction patterns across similar user profiles to predict ratings and interests without needing item meta-data.</a:t>
            </a:r>
            <a:endParaRPr lang="en-US" sz="1200" dirty="0"/>
          </a:p>
        </p:txBody>
      </p:sp>
      <p:sp>
        <p:nvSpPr>
          <p:cNvPr id="15" name="Literature card 3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Highlight outline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4286"/>
            </a:avLst>
          </a:prstGeom>
          <a:ln w="25400">
            <a:solidFill>
              <a:srgbClr val="5CE1E6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8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61" y="176662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6364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DSA Optimised Approach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30632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Uses fast-lookup Hash Maps and Min-Heaps to cut computational overhead and reduce cold-start latency in real time.</a:t>
            </a:r>
            <a:endParaRPr lang="en-US" sz="1200" dirty="0"/>
          </a:p>
        </p:txBody>
      </p:sp>
      <p:sp>
        <p:nvSpPr>
          <p:cNvPr id="21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and Execution Pipeline</a:t>
            </a:r>
            <a:endParaRPr lang="en-US" sz="3400" dirty="0"/>
          </a:p>
        </p:txBody>
      </p:sp>
      <p:sp>
        <p:nvSpPr>
          <p:cNvPr id="3" name="Ring motif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ln w="127000">
            <a:solidFill>
              <a:srgbClr val="12A8C9">
                <a:alpha val="30000"/>
              </a:srgbClr>
            </a:solidFill>
            <a:prstDash val="solid"/>
          </a:ln>
        </p:spPr>
      </p:sp>
      <p:sp>
        <p:nvSpPr>
          <p:cNvPr id="5" name="Stage card 1"/>
          <p:cNvSpPr/>
          <p:nvPr/>
        </p:nvSpPr>
        <p:spPr>
          <a:xfrm>
            <a:off x="548640" y="146304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1188720" y="1645920"/>
            <a:ext cx="548640" cy="54864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7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36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E1E6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578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Index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971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Store users, movies and ratings in Hash Maps (O(1) lookup)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377440" y="2468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E1E6"/>
                </a:solidFill>
              </a:rPr>
              <a:t>&gt;</a:t>
            </a:r>
            <a:endParaRPr lang="en-US" sz="1800" dirty="0"/>
          </a:p>
        </p:txBody>
      </p:sp>
      <p:sp>
        <p:nvSpPr>
          <p:cNvPr id="12" name="Stage card 2"/>
          <p:cNvSpPr/>
          <p:nvPr/>
        </p:nvSpPr>
        <p:spPr>
          <a:xfrm>
            <a:off x="2606040" y="146304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3246120" y="1645920"/>
            <a:ext cx="548640" cy="54864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4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766" y="17885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432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E1E6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743200" y="2578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Score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2743200" y="2971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Compute relevance from rating, genre match and popularity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434840" y="2468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E1E6"/>
                </a:solidFill>
              </a:rPr>
              <a:t>&gt;</a:t>
            </a:r>
            <a:endParaRPr lang="en-US" sz="1800" dirty="0"/>
          </a:p>
        </p:txBody>
      </p:sp>
      <p:sp>
        <p:nvSpPr>
          <p:cNvPr id="19" name="Stage card 3"/>
          <p:cNvSpPr/>
          <p:nvPr/>
        </p:nvSpPr>
        <p:spPr>
          <a:xfrm>
            <a:off x="4663440" y="146304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5303520" y="1645920"/>
            <a:ext cx="548640" cy="54864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21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166" y="17885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006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E1E6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800600" y="2578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Rank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4800600" y="2971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Pick Top-N with sorting or a Min-Heap priority queue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92240" y="2468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E1E6"/>
                </a:solidFill>
              </a:rPr>
              <a:t>&gt;</a:t>
            </a:r>
            <a:endParaRPr lang="en-US" sz="1800" dirty="0"/>
          </a:p>
        </p:txBody>
      </p:sp>
      <p:sp>
        <p:nvSpPr>
          <p:cNvPr id="26" name="Stage card 4"/>
          <p:cNvSpPr/>
          <p:nvPr/>
        </p:nvSpPr>
        <p:spPr>
          <a:xfrm>
            <a:off x="6720840" y="146304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7360920" y="1645920"/>
            <a:ext cx="548640" cy="54864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28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566" y="1788566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580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E1E6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858000" y="2578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Diversify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6858000" y="2971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Re-rank to suppress repeats from the same genre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E1E6"/>
                </a:solidFill>
              </a:rPr>
              <a:t>Input: user ratings + movie catalogue      Output: personalised, diverse Top-10 list</a:t>
            </a:r>
            <a:endParaRPr lang="en-US" sz="1300" dirty="0"/>
          </a:p>
        </p:txBody>
      </p:sp>
      <p:sp>
        <p:nvSpPr>
          <p:cNvPr id="33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and Diversity Filter</a:t>
            </a:r>
            <a:endParaRPr lang="en-US" sz="3400" dirty="0"/>
          </a:p>
        </p:txBody>
      </p:sp>
      <p:sp>
        <p:nvSpPr>
          <p:cNvPr id="3" name="Ring motif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ln w="127000">
            <a:solidFill>
              <a:srgbClr val="12A8C9">
                <a:alpha val="30000"/>
              </a:srgbClr>
            </a:solidFill>
            <a:prstDash val="solid"/>
          </a:ln>
        </p:spPr>
      </p:sp>
      <p:sp>
        <p:nvSpPr>
          <p:cNvPr id="5" name="Scoring card"/>
          <p:cNvSpPr/>
          <p:nvPr/>
        </p:nvSpPr>
        <p:spPr>
          <a:xfrm>
            <a:off x="548640" y="128016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E1E6"/>
                </a:solidFill>
              </a:rPr>
              <a:t>1. Indexing and Scoring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User interactions are indexed in Hash Maps for O(1) average lookup. Each movie gets a relevance score:</a:t>
            </a:r>
            <a:endParaRPr lang="en-US" sz="1300" dirty="0"/>
          </a:p>
        </p:txBody>
      </p:sp>
      <p:sp>
        <p:nvSpPr>
          <p:cNvPr id="8" name="Formula box"/>
          <p:cNvSpPr/>
          <p:nvPr/>
        </p:nvSpPr>
        <p:spPr>
          <a:xfrm>
            <a:off x="777240" y="260604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050B1A"/>
          </a:solidFill>
          <a:ln w="12700">
            <a:solidFill>
              <a:srgbClr val="12A8C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06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E1E6"/>
                </a:solidFill>
              </a:rPr>
              <a:t>Score = w1 x Rating + w2 x GenreMatch + w3 x Popularity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9DC"/>
                </a:solidFill>
              </a:rPr>
              <a:t>Weights w1, w2, w3 can be adjusted for each user, giving dynamic weighting of preferences.</a:t>
            </a:r>
            <a:endParaRPr lang="en-US" sz="1200" dirty="0"/>
          </a:p>
        </p:txBody>
      </p:sp>
      <p:sp>
        <p:nvSpPr>
          <p:cNvPr id="11" name="Diversity card"/>
          <p:cNvSpPr/>
          <p:nvPr/>
        </p:nvSpPr>
        <p:spPr>
          <a:xfrm>
            <a:off x="4846320" y="1280160"/>
            <a:ext cx="3749040" cy="3246120"/>
          </a:xfrm>
          <a:prstGeom prst="roundRect">
            <a:avLst>
              <a:gd name="adj" fmla="val 3380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0749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E1E6"/>
                </a:solidFill>
              </a:rPr>
              <a:t>2. Top-N Ranking and Diversity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Rank scored movies and keep the Top 10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Diversity filter re-ranks results so redundant items from one genre are suppressed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Result: relevant and varied suggestions</a:t>
            </a:r>
            <a:endParaRPr lang="en-US" sz="1300" dirty="0"/>
          </a:p>
        </p:txBody>
      </p:sp>
      <p:sp>
        <p:nvSpPr>
          <p:cNvPr id="14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and Algorithms Used</a:t>
            </a:r>
            <a:endParaRPr lang="en-US" sz="3400" dirty="0"/>
          </a:p>
        </p:txBody>
      </p:sp>
      <p:sp>
        <p:nvSpPr>
          <p:cNvPr id="3" name="Ring motif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ln w="127000">
            <a:solidFill>
              <a:srgbClr val="12A8C9">
                <a:alpha val="30000"/>
              </a:srgbClr>
            </a:solidFill>
            <a:prstDash val="solid"/>
          </a:ln>
        </p:spPr>
      </p:sp>
      <p:graphicFrame>
        <p:nvGraphicFramePr>
          <p:cNvPr id="8" name="DS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B1A"/>
                          </a:solidFill>
                        </a:rPr>
                        <a:t>Concept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B1A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B1A"/>
                          </a:solidFill>
                        </a:rPr>
                        <a:t>Time complexity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Hash Map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Index users, movies and ratings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O(1) lookup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Array List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Store candidate lists per user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O(1) access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Sorting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Rank movies by score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O(n log n)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Min-Heap / Priority Queue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Keep the Top-N efficiently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O(n log N)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Diversity re-ranking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Limit repeats per genre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8C9DC"/>
                          </a:solidFill>
                        </a:rPr>
                        <a:t>O(N)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and Hardware Specifications</a:t>
            </a:r>
            <a:endParaRPr lang="en-US" sz="3400" dirty="0"/>
          </a:p>
        </p:txBody>
      </p:sp>
      <p:sp>
        <p:nvSpPr>
          <p:cNvPr id="3" name="Ring motif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ln w="127000">
            <a:solidFill>
              <a:srgbClr val="12A8C9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E1E6"/>
                </a:solidFill>
              </a:rPr>
              <a:t>Software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E1E6"/>
                </a:solidFill>
              </a:rPr>
              <a:t>Hardware</a:t>
            </a:r>
            <a:endParaRPr lang="en-US" sz="1600" dirty="0"/>
          </a:p>
        </p:txBody>
      </p:sp>
      <p:graphicFrame>
        <p:nvGraphicFramePr>
          <p:cNvPr id="9" name="Softwa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9319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97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B1A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B1A"/>
                          </a:solidFill>
                        </a:rPr>
                        <a:t>Details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Operating System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C9DC"/>
                          </a:solidFill>
                        </a:rPr>
                        <a:t>Windows 10/11, macOS or Linux (Ubuntu 20.04+)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C9DC"/>
                          </a:solidFill>
                        </a:rPr>
                        <a:t>Java (JDK 17+) or Python 3.10+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C9DC"/>
                          </a:solidFill>
                        </a:rPr>
                        <a:t>IntelliJ IDEA / VS Code / PyCharm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Libraries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C9DC"/>
                          </a:solidFill>
                        </a:rPr>
                        <a:t>NumPy, Pandas, Scikit-Learn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Hardwa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00200"/>
          <a:ext cx="39319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97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B1A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B1A"/>
                          </a:solidFill>
                        </a:rPr>
                        <a:t>Details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CPU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C9DC"/>
                          </a:solidFill>
                        </a:rPr>
                        <a:t>Intel Core i5 / AMD Ryzen 5 or higher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RAM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C9DC"/>
                          </a:solidFill>
                        </a:rPr>
                        <a:t>8 GB DDR4 (in-memory index)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Storage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C9DC"/>
                          </a:solidFill>
                        </a:rPr>
                        <a:t>256 GB NVMe SSD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Display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C9DC"/>
                          </a:solidFill>
                        </a:rPr>
                        <a:t>1080p Full HD monitor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</a:tbl>
          </a:graphicData>
        </a:graphic>
      </p:graphicFrame>
      <p:sp>
        <p:nvSpPr>
          <p:cNvPr id="8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and Conclusion</a:t>
            </a:r>
            <a:endParaRPr lang="en-US" sz="3400" dirty="0"/>
          </a:p>
        </p:txBody>
      </p:sp>
      <p:sp>
        <p:nvSpPr>
          <p:cNvPr id="3" name="Ring motif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ln w="127000">
            <a:solidFill>
              <a:srgbClr val="12A8C9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E1E6"/>
                </a:solidFill>
              </a:rPr>
              <a:t>Domain versatility</a:t>
            </a:r>
            <a:endParaRPr lang="en-US" sz="1600" dirty="0"/>
          </a:p>
        </p:txBody>
      </p:sp>
      <p:sp>
        <p:nvSpPr>
          <p:cNvPr id="5" name="Domain card 1"/>
          <p:cNvSpPr/>
          <p:nvPr/>
        </p:nvSpPr>
        <p:spPr>
          <a:xfrm>
            <a:off x="548640" y="164592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1207008" y="1783080"/>
            <a:ext cx="502920" cy="50292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7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767" y="19138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359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Movies</a:t>
            </a:r>
            <a:endParaRPr lang="en-US" sz="1400" dirty="0"/>
          </a:p>
        </p:txBody>
      </p:sp>
      <p:sp>
        <p:nvSpPr>
          <p:cNvPr id="9" name="Domain card 2"/>
          <p:cNvSpPr/>
          <p:nvPr/>
        </p:nvSpPr>
        <p:spPr>
          <a:xfrm>
            <a:off x="2560320" y="164592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3218688" y="1783080"/>
            <a:ext cx="502920" cy="50292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447" y="19138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0320" y="2359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E-commerce</a:t>
            </a:r>
            <a:endParaRPr lang="en-US" sz="1400" dirty="0"/>
          </a:p>
        </p:txBody>
      </p:sp>
      <p:sp>
        <p:nvSpPr>
          <p:cNvPr id="13" name="Domain card 3"/>
          <p:cNvSpPr/>
          <p:nvPr/>
        </p:nvSpPr>
        <p:spPr>
          <a:xfrm>
            <a:off x="548640" y="301752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1207008" y="3154680"/>
            <a:ext cx="502920" cy="50292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767" y="32854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Books</a:t>
            </a:r>
            <a:endParaRPr lang="en-US" sz="1400" dirty="0"/>
          </a:p>
        </p:txBody>
      </p:sp>
      <p:sp>
        <p:nvSpPr>
          <p:cNvPr id="17" name="Domain card 4"/>
          <p:cNvSpPr/>
          <p:nvPr/>
        </p:nvSpPr>
        <p:spPr>
          <a:xfrm>
            <a:off x="2560320" y="301752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3218688" y="3154680"/>
            <a:ext cx="502920" cy="502920"/>
          </a:xfrm>
          <a:prstGeom prst="ellipse">
            <a:avLst/>
          </a:prstGeom>
          <a:solidFill>
            <a:srgbClr val="12A8C9"/>
          </a:solidFill>
          <a:ln w="12700">
            <a:solidFill>
              <a:srgbClr val="12A8C9"/>
            </a:solidFill>
            <a:prstDash val="solid"/>
          </a:ln>
        </p:spPr>
      </p:sp>
      <p:pic>
        <p:nvPicPr>
          <p:cNvPr id="19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447" y="328543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560320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Online courses</a:t>
            </a:r>
            <a:endParaRPr lang="en-US" sz="1400" dirty="0"/>
          </a:p>
        </p:txBody>
      </p:sp>
      <p:sp>
        <p:nvSpPr>
          <p:cNvPr id="21" name="Conclusion card"/>
          <p:cNvSpPr/>
          <p:nvPr/>
        </p:nvSpPr>
        <p:spPr>
          <a:xfrm>
            <a:off x="4663440" y="118872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0B2447"/>
          </a:solidFill>
          <a:ln w="9525">
            <a:solidFill>
              <a:srgbClr val="1D3F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4892040" y="1298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E1E6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Solves information overload with fast, personalised Top-10 results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Hash Maps give O(1) lookups; heaps and sorting rank efficiently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Diversity filter keeps recommendations varied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Adapts to movies, books, courses and products</a:t>
            </a:r>
            <a:endParaRPr lang="en-US" sz="1300" dirty="0"/>
          </a:p>
        </p:txBody>
      </p:sp>
      <p:sp>
        <p:nvSpPr>
          <p:cNvPr id="24" name="Text 1"/>
          <p:cNvSpPr/>
          <p:nvPr>
            <p:ph idx="102" type="body" hasCustomPrompt="1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motif"/>
          <p:cNvSpPr/>
          <p:nvPr/>
        </p:nvSpPr>
        <p:spPr>
          <a:xfrm>
            <a:off x="2926080" y="182880"/>
            <a:ext cx="4206240" cy="4206240"/>
          </a:xfrm>
          <a:prstGeom prst="ellipse">
            <a:avLst/>
          </a:prstGeom>
          <a:ln w="177800">
            <a:solidFill>
              <a:srgbClr val="12A8C9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E1E6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C4"/>
                </a:solidFill>
              </a:rPr>
              <a:t>Venkat Sai (2520090034)  |  Yaswanth Reddy (2520080048)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mmendation Engine">
  <a:themeElements>
    <a:clrScheme name="Recommendation Engine">
      <a:dk1>
        <a:srgbClr val="050B1A"/>
      </a:dk1>
      <a:lt1>
        <a:srgbClr val="FFFFFF"/>
      </a:lt1>
      <a:dk2>
        <a:srgbClr val="0B2447"/>
      </a:dk2>
      <a:lt2>
        <a:srgbClr val="E6F4F8"/>
      </a:lt2>
      <a:accent1>
        <a:srgbClr val="12A8C9"/>
      </a:accent1>
      <a:accent2>
        <a:srgbClr val="5CE1E6"/>
      </a:accent2>
      <a:accent3>
        <a:srgbClr val="1D5FA8"/>
      </a:accent3>
      <a:accent4>
        <a:srgbClr val="F5B841"/>
      </a:accent4>
      <a:accent5>
        <a:srgbClr val="8FA8C4"/>
      </a:accent5>
      <a:accent6>
        <a:srgbClr val="0F3460"/>
      </a:accent6>
      <a:hlink>
        <a:srgbClr val="5CE1E6"/>
      </a:hlink>
      <a:folHlink>
        <a:srgbClr val="8FA8C4"/>
      </a:folHlink>
    </a:clrScheme>
    <a:fontScheme name="Recommendation Eng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Engine</dc:title>
  <dc:subject>PptxGenJS Presentation</dc:subject>
  <dc:creator>Venkat Sai, Yaswanth Reddy</dc:creator>
  <cp:lastModifiedBy>Venkat Sai, Yaswanth Reddy</cp:lastModifiedBy>
  <cp:revision>1</cp:revision>
  <dcterms:created xsi:type="dcterms:W3CDTF">2026-10-11T14:30:38Z</dcterms:created>
  <dcterms:modified xsi:type="dcterms:W3CDTF">2026-10-11T14:30:38Z</dcterms:modified>
</cp:coreProperties>
</file>